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FD1C5"/>
                </a:solidFill>
                <a:latin typeface="Calibri"/>
              </a:rPr>
              <a:t>NVIDIA SPARK HACK SERIES · SEATTLE · "SEE"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E9EEF3"/>
                </a:solidFill>
                <a:latin typeface="Calibri"/>
              </a:rPr>
              <a:t>Chrono-Surge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AA7B2"/>
                </a:solidFill>
                <a:latin typeface="Calibri"/>
              </a:rPr>
              <a:t>Retained Surgical Item Detection — an offline visual second-check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7B2"/>
                </a:solidFill>
                <a:latin typeface="Calibri"/>
              </a:rPr>
              <a:t>Built on NVIDIA VSS (video-search-and-summarization) + Cosmos3 VLM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164592" cy="164592"/>
          </a:xfrm>
          <a:prstGeom prst="ellipse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Retained surgical items are a preventable “never event”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Sponges, needles, and instruments still get left inside patients.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Tracked by CMS/The Joint Commission as a “never event” — preventable, yet still happens under time pressure.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Manual counting is the current safety net — and it's fragile.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Relies on a nurse/tech tallying items out loud during handoffs, fatigue, and shift changes. No independent check.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Hardware fixes (RFID tags, barcoded sponges) require per-item retrofitting.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Added cost and workflow change for every single instrument and sponge in inventory.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The gap: a passive, camera-only second-check that needs no new hardware.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Something that watches the existing tray setup and catches what a tired human count might miss.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What Chrono-Surge does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Watches a fixed camera view of the tray/sterile field.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No new sensors — just a camera pointed at the existing setup.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Tracks every item's zone over time: TRAY → HANDS → FIELD → back.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A Vision-Language Model reports what it sees; Chrono-Surge tracks the trajectory.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Flags HAZARD the moment an item enters the field and never returns.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The one transition that actually matters clinically — not just “item missing.”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Live dashboard: Safety Monitor, Live Inventory, Telemetry, Audit trail.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Every run is persisted to disk — video, transcript, and summary.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737360"/>
            <a:ext cx="4480560" cy="420624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9659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7B2"/>
                </a:solidFill>
                <a:latin typeface="Calibri"/>
              </a:rPr>
              <a:t>SAFETY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377440"/>
            <a:ext cx="3108960" cy="502920"/>
          </a:xfrm>
          <a:prstGeom prst="roundRect">
            <a:avLst/>
          </a:prstGeom>
          <a:solidFill>
            <a:srgbClr val="74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C8181"/>
                </a:solidFill>
              </a:rPr>
              <a:t>CRITICAL — RETAINED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06324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“Gauze-Pack entered FIELD at 00:32 and did not return by end of clip.”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794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7B2"/>
                </a:solidFill>
                <a:latin typeface="Calibri"/>
              </a:rPr>
              <a:t>LIVE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160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Pencil-A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1605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Calibri"/>
              </a:rPr>
              <a:t>start 1 → end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6177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Gauze-Pack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617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C8181"/>
                </a:solidFill>
                <a:latin typeface="Calibri"/>
              </a:rPr>
              <a:t>start 1 → end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0749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ID-Card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0749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Calibri"/>
              </a:rPr>
              <a:t>start 1 → end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WHY HOSPITALS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A safety net that fits into how ORs already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Retained items mean reoperation, patient harm, and malpractice exposure.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Direct cost and liability every time the manual count fails.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Passive monitoring — doesn't slow the surgical team down.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No new counting ritual, no new tags to scan — it runs alongside existing protocol as a second check.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Runs fully on local infrastructure — nothing leaves the building.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VLM inference happens on-prem via NVIDIA VSS; important for PHI/HIPAA-sensitive video.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Low integration cost: one camera + existing VLM infra.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No per-instrument hardware retrofit, unlike RFID/barcode approaches.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From raw video to a trustworthy alert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737360"/>
            <a:ext cx="3611880" cy="196596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D1C5"/>
                </a:solidFill>
                <a:latin typeface="Calibri"/>
              </a:rPr>
              <a:t>1.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EF3"/>
                </a:solidFill>
                <a:latin typeface="Calibri"/>
              </a:rPr>
              <a:t>Record (or simulate) tray-area video from a fixed camera.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611880" cy="196596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D1C5"/>
                </a:solidFill>
                <a:latin typeface="Calibri"/>
              </a:rPr>
              <a:t>2.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EF3"/>
                </a:solidFill>
                <a:latin typeface="Calibri"/>
              </a:rPr>
              <a:t>Split into short clips; auto-compress to fit the VLM's inline size cap.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611880" cy="196596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D1C5"/>
                </a:solidFill>
                <a:latin typeface="Calibri"/>
              </a:rPr>
              <a:t>3.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2316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EF3"/>
                </a:solidFill>
                <a:latin typeface="Calibri"/>
              </a:rPr>
              <a:t>Send each window to the VLM with a strict structured-JSON prompt.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3611880" cy="196596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D1C5"/>
                </a:solidFill>
                <a:latin typeface="Calibri"/>
              </a:rPr>
              <a:t>4.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EF3"/>
                </a:solidFill>
                <a:latin typeface="Calibri"/>
              </a:rPr>
              <a:t>Canonicalize names + reject hallucinated fragments before trusting 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611880" cy="196596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D1C5"/>
                </a:solidFill>
                <a:latin typeface="Calibri"/>
              </a:rPr>
              <a:t>5. 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EF3"/>
                </a:solidFill>
                <a:latin typeface="Calibri"/>
              </a:rPr>
              <a:t>Compare start vs. end state, window-to-window, to catch retained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86200"/>
            <a:ext cx="3611880" cy="196596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0690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D1C5"/>
                </a:solidFill>
                <a:latin typeface="Calibri"/>
              </a:rPr>
              <a:t>6. Persist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5720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EF3"/>
                </a:solidFill>
                <a:latin typeface="Calibri"/>
              </a:rPr>
              <a:t>Every run's evidence — video, transcript, summary — saved to disk.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Pipeline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3707" y="2834640"/>
            <a:ext cx="1783080" cy="1051560"/>
          </a:xfrm>
          <a:prstGeom prst="roundRect">
            <a:avLst/>
          </a:prstGeom>
          <a:solidFill>
            <a:srgbClr val="1A222C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9EEF3"/>
                </a:solidFill>
              </a:rPr>
              <a:t>Video Input</a:t>
            </a:r>
          </a:p>
          <a:p>
            <a:pPr algn="ctr"/>
            <a:r>
              <a:rPr sz="1050" b="0">
                <a:solidFill>
                  <a:srgbClr val="E9EEF3"/>
                </a:solidFill>
              </a:rPr>
              <a:t>(upload / simulated)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86787" y="3360420"/>
            <a:ext cx="137160" cy="0"/>
          </a:xfrm>
          <a:prstGeom prst="line">
            <a:avLst/>
          </a:prstGeom>
          <a:ln w="19050">
            <a:solidFill>
              <a:srgbClr val="9AA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23947" y="2834640"/>
            <a:ext cx="1783080" cy="1051560"/>
          </a:xfrm>
          <a:prstGeom prst="roundRect">
            <a:avLst/>
          </a:prstGeom>
          <a:solidFill>
            <a:srgbClr val="1A222C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9EEF3"/>
                </a:solidFill>
              </a:rPr>
              <a:t>ffmpeg</a:t>
            </a:r>
          </a:p>
          <a:p>
            <a:pPr algn="ctr"/>
            <a:r>
              <a:rPr sz="1050" b="0">
                <a:solidFill>
                  <a:srgbClr val="E9EEF3"/>
                </a:solidFill>
              </a:rPr>
              <a:t>window + compress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07027" y="3360420"/>
            <a:ext cx="137160" cy="0"/>
          </a:xfrm>
          <a:prstGeom prst="line">
            <a:avLst/>
          </a:prstGeom>
          <a:ln w="19050">
            <a:solidFill>
              <a:srgbClr val="9AA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44187" y="2834640"/>
            <a:ext cx="1783080" cy="1051560"/>
          </a:xfrm>
          <a:prstGeom prst="roundRect">
            <a:avLst/>
          </a:prstGeom>
          <a:solidFill>
            <a:srgbClr val="4FD1C5"/>
          </a:solidFill>
          <a:ln w="15875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F141A"/>
                </a:solidFill>
              </a:rPr>
              <a:t>Cosmos3 VLM</a:t>
            </a:r>
          </a:p>
          <a:p>
            <a:pPr algn="ctr"/>
            <a:r>
              <a:rPr sz="1050" b="0">
                <a:solidFill>
                  <a:srgbClr val="0F141A"/>
                </a:solidFill>
              </a:rPr>
              <a:t>structured 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27267" y="3360420"/>
            <a:ext cx="137160" cy="0"/>
          </a:xfrm>
          <a:prstGeom prst="line">
            <a:avLst/>
          </a:prstGeom>
          <a:ln w="19050">
            <a:solidFill>
              <a:srgbClr val="9AA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64427" y="2834640"/>
            <a:ext cx="1783080" cy="1051560"/>
          </a:xfrm>
          <a:prstGeom prst="roundRect">
            <a:avLst/>
          </a:prstGeom>
          <a:solidFill>
            <a:srgbClr val="2C3A33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9EEF3"/>
                </a:solidFill>
              </a:rPr>
              <a:t>Guardrail Layer</a:t>
            </a:r>
          </a:p>
          <a:p>
            <a:pPr algn="ctr"/>
            <a:r>
              <a:rPr sz="1050" b="0">
                <a:solidFill>
                  <a:srgbClr val="E9EEF3"/>
                </a:solidFill>
              </a:rPr>
              <a:t>canonicalize + reject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47507" y="3360420"/>
            <a:ext cx="137160" cy="0"/>
          </a:xfrm>
          <a:prstGeom prst="line">
            <a:avLst/>
          </a:prstGeom>
          <a:ln w="19050">
            <a:solidFill>
              <a:srgbClr val="9AA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84667" y="2834640"/>
            <a:ext cx="1783080" cy="1051560"/>
          </a:xfrm>
          <a:prstGeom prst="roundRect">
            <a:avLst/>
          </a:prstGeom>
          <a:solidFill>
            <a:srgbClr val="1A222C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9EEF3"/>
                </a:solidFill>
              </a:rPr>
              <a:t>Continuity Check</a:t>
            </a:r>
          </a:p>
          <a:p>
            <a:pPr algn="ctr"/>
            <a:r>
              <a:rPr sz="1050" b="0">
                <a:solidFill>
                  <a:srgbClr val="E9EEF3"/>
                </a:solidFill>
              </a:rPr>
              <a:t>ledger / baseline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67747" y="3360420"/>
            <a:ext cx="137160" cy="0"/>
          </a:xfrm>
          <a:prstGeom prst="line">
            <a:avLst/>
          </a:prstGeom>
          <a:ln w="19050">
            <a:solidFill>
              <a:srgbClr val="9AA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04907" y="2834640"/>
            <a:ext cx="1783080" cy="1051560"/>
          </a:xfrm>
          <a:prstGeom prst="roundRect">
            <a:avLst/>
          </a:prstGeom>
          <a:solidFill>
            <a:srgbClr val="1A222C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9EEF3"/>
                </a:solidFill>
              </a:rPr>
              <a:t>Dashboard + Audit</a:t>
            </a:r>
          </a:p>
          <a:p>
            <a:pPr algn="ctr"/>
            <a:r>
              <a:rPr sz="1050" b="0">
                <a:solidFill>
                  <a:srgbClr val="E9EEF3"/>
                </a:solidFill>
              </a:rPr>
              <a:t>Streamlit / analysis_runs/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7B2"/>
                </a:solidFill>
                <a:latin typeface="Calibri"/>
              </a:rPr>
              <a:t>Per-frame variant (standalone, not yet wired into the dashboard):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vss_adapter.py extracts frames → sends each as an image to Cosmos3 → cse.py's Chronological State Engine applies debouncing, occlusion tolerance, and the FIELD→ABSENT retention alert.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Kept separate from the live demo path to stay within VLM latency budget (~30–90s/call) for a real-time feel.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 · see specs/system-design.md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VLM &amp; LLM used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/>
          </a:prstGeom>
          <a:solidFill>
            <a:srgbClr val="1A222C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VLM —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EEF3"/>
                </a:solidFill>
                <a:latin typeface="Calibri"/>
              </a:rPr>
              <a:t>nvidia/cosmos3-nano-reasoner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›  Takes image or video + text prompt, returns structured object/zone JSON.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›  Served locally via NVIDIA VSS “base” profile (OpenAI-compatible REST, port 30082).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›  Every dashboard mode's detection call goes through this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4206240"/>
          </a:xfrm>
          <a:prstGeom prst="roundRect">
            <a:avLst/>
          </a:prstGeom>
          <a:solidFill>
            <a:srgbClr val="181F27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7B2"/>
                </a:solidFill>
                <a:latin typeface="Calibri"/>
              </a:rPr>
              <a:t>LLM — DEPLOYED, UNUSED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EEF3"/>
                </a:solidFill>
                <a:latin typeface="Calibri"/>
              </a:rPr>
              <a:t>nvidia/nemotron-nano-9b-v2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›  Text-only — cannot process images or video.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›  Also part of the same VSS “base” profile deployment (port 30081).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›  Not called by this pipeline — kept for completeness / future text-summarization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 · all inference on-prem, no cloud round-trip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Preventing the VLM from hallucinating inventory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4FD1C5"/>
                </a:solidFill>
                <a:latin typeface="Calibri"/>
              </a:rPr>
              <a:t>›  Structured JSON contract, enforced by prompt.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9AA7B2"/>
                </a:solidFill>
                <a:latin typeface="Calibri"/>
              </a:rPr>
              <a:t>     The model must return an exact schema — no free-text answers get trusted directly.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4FD1C5"/>
                </a:solidFill>
                <a:latin typeface="Calibri"/>
              </a:rPr>
              <a:t>›  Name canonicalization — first-seen identity wins.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9AA7B2"/>
                </a:solidFill>
                <a:latin typeface="Calibri"/>
              </a:rPr>
              <a:t>     “Rectangular packet” later maps onto “packet” instead of becoming a phantom new item.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4FD1C5"/>
                </a:solidFill>
                <a:latin typeface="Calibri"/>
              </a:rPr>
              <a:t>›  Fragment rejection — stoplist + subset-duplicate filter.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9AA7B2"/>
                </a:solidFill>
                <a:latin typeface="Calibri"/>
              </a:rPr>
              <a:t>     Catches junk like a bare “white” or “thin” hallucinated alongside the real object name.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4FD1C5"/>
                </a:solidFill>
                <a:latin typeface="Calibri"/>
              </a:rPr>
              <a:t>›  Debounce + occlusion tolerance in the state engine.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9AA7B2"/>
                </a:solidFill>
                <a:latin typeface="Calibri"/>
              </a:rPr>
              <a:t>     A single noisy frame can never flip an item's official state or fire an alert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5166360" cy="420624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AD55"/>
                </a:solidFill>
                <a:latin typeface="Calibri"/>
              </a:rPr>
              <a:t>REAL BUG WE CAUGHT &amp;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23160"/>
            <a:ext cx="4663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A VLM response once produced: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  “white label with text”, “white”, “text white with”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  “metallic needle”, “metallic”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Three fragments of ONE object were about to become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three separate inventory rows.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Fix: the canonicalizer's match score was diluted by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dividing by the larger word set — a 1-word fragment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scored too low to merge. Fixed to score against the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smaller set, plus a stoplist as a last-resort filter.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9EEF3"/>
                </a:solidFill>
                <a:latin typeface="Calibri"/>
              </a:rPr>
              <a:t>Every drop is logged — nothing silently discarded.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 · specs/inventory-guardrail-spec.md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“SEE” TRACK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Why this is a computer-vision story, not a checklist app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The entire safety case rests on visual perception.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No sensors, no tags — the only signal is what a camera + VLM can actually see.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Temporal visual reasoning, not single-frame classification.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Tracking an item's zone across time (TRAY→HANDS→FIELD→back) is a sequence-understanding problem.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Hallucination-safe visual counting under real-world noise.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Handles occlusion, re-phrasing, and outright VLM hallucination — the hard edge of “seeing reliably.”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D1C5"/>
                </a:solidFill>
                <a:latin typeface="Calibri"/>
              </a:rPr>
              <a:t>›  A visual second-check for a high-stakes, real clinical workflow.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>
                <a:solidFill>
                  <a:srgbClr val="9AA7B2"/>
                </a:solidFill>
                <a:latin typeface="Calibri"/>
              </a:rPr>
              <a:t>     Demonstrates the “See” track's premise: vision models doing something a human easily misses.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What we'll show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1. Mock Scenario gate-checks.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Round-trip (no alert), occlusion (no false alert), retention (exactly one HAZARD), endpoint drop (DEGRADED) — controlled validation of the dashboard's logic.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2. Live Analysis (10s windows) on a real tray video.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Watch the Safety Monitor update window-by-window, then flip to CRITICAL the moment an item enters the field and doesn't return.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3. Live Inventory in real time.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Object counts update per window, robust to the VLM re-wording the same object (“pencil” vs “yellow pencil”).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D1C5"/>
                </a:solidFill>
                <a:latin typeface="Calibri"/>
              </a:rPr>
              <a:t>›  4. All-time stats surviving a mode switch / restart.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9AA7B2"/>
                </a:solidFill>
                <a:latin typeface="Calibri"/>
              </a:rPr>
              <a:t>     Sidebar token/latency totals are disk-backed — proof this isn't just in-memory demo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EF3"/>
                </a:solidFill>
                <a:latin typeface="Calibri"/>
              </a:rPr>
              <a:t>Known limitations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7B2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D1C5"/>
                </a:solidFill>
                <a:latin typeface="Calibri"/>
              </a:rPr>
              <a:t>›  VLM latency (~30–90s/call) rules out true per-frame real-time analysis.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D1C5"/>
                </a:solidFill>
                <a:latin typeface="Calibri"/>
              </a:rPr>
              <a:t>›  Open-set object naming can still edge-case on very unusual phrasings.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D1C5"/>
                </a:solidFill>
                <a:latin typeface="Calibri"/>
              </a:rPr>
              <a:t>›  No live RTSP camera input yet — file upload / simulated video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4206240"/>
          </a:xfrm>
          <a:prstGeom prst="roundRect">
            <a:avLst/>
          </a:prstGeom>
          <a:solidFill>
            <a:srgbClr val="182A27"/>
          </a:solidFill>
          <a:ln w="15875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D1C5"/>
                </a:solidFill>
                <a:latin typeface="Calibri"/>
              </a:rPr>
              <a:t>›  Wire zone-tracking (TRAY/HANDS/FIELD) into the windowed live mode.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D1C5"/>
                </a:solidFill>
                <a:latin typeface="Calibri"/>
              </a:rPr>
              <a:t>›  Pilot against real recorded surgical-tray footage for validation.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D1C5"/>
                </a:solidFill>
                <a:latin typeface="Calibri"/>
              </a:rPr>
              <a:t>›  Add live RTSP input to move from file-upload demo to a real feed.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7B2"/>
                </a:solidFill>
                <a:latin typeface="Calibri"/>
              </a:rPr>
              <a:t>Chrono-Surge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